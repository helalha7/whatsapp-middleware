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Yq2vNilWHnvWhnVQiv6E1DrvW6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" name="Google Shape;7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4" name="Google Shape;174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7" name="Google Shape;27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f1ea28525b_0_114:notes"/>
          <p:cNvSpPr/>
          <p:nvPr>
            <p:ph idx="2" type="sldImg"/>
          </p:nvPr>
        </p:nvSpPr>
        <p:spPr>
          <a:xfrm>
            <a:off x="8574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f1ea28525b_0_114:notes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9" name="Google Shape;379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3" name="Google Shape;453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1" name="Google Shape;501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2" name="Google Shape;53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png"/><Relationship Id="rId4" Type="http://schemas.openxmlformats.org/officeDocument/2006/relationships/image" Target="../media/image12.png"/><Relationship Id="rId5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0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1.png"/><Relationship Id="rId8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11" Type="http://schemas.openxmlformats.org/officeDocument/2006/relationships/image" Target="../media/image21.png"/><Relationship Id="rId10" Type="http://schemas.openxmlformats.org/officeDocument/2006/relationships/image" Target="../media/image25.png"/><Relationship Id="rId9" Type="http://schemas.openxmlformats.org/officeDocument/2006/relationships/image" Target="../media/image44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0.png"/><Relationship Id="rId8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Relationship Id="rId4" Type="http://schemas.openxmlformats.org/officeDocument/2006/relationships/image" Target="../media/image35.png"/><Relationship Id="rId5" Type="http://schemas.openxmlformats.org/officeDocument/2006/relationships/image" Target="../media/image11.png"/><Relationship Id="rId6" Type="http://schemas.openxmlformats.org/officeDocument/2006/relationships/image" Target="../media/image30.png"/><Relationship Id="rId7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8.png"/><Relationship Id="rId4" Type="http://schemas.openxmlformats.org/officeDocument/2006/relationships/image" Target="../media/image40.png"/><Relationship Id="rId10" Type="http://schemas.openxmlformats.org/officeDocument/2006/relationships/image" Target="../media/image42.png"/><Relationship Id="rId9" Type="http://schemas.openxmlformats.org/officeDocument/2006/relationships/image" Target="../media/image51.png"/><Relationship Id="rId5" Type="http://schemas.openxmlformats.org/officeDocument/2006/relationships/image" Target="../media/image31.png"/><Relationship Id="rId6" Type="http://schemas.openxmlformats.org/officeDocument/2006/relationships/image" Target="../media/image36.png"/><Relationship Id="rId7" Type="http://schemas.openxmlformats.org/officeDocument/2006/relationships/image" Target="../media/image41.png"/><Relationship Id="rId8" Type="http://schemas.openxmlformats.org/officeDocument/2006/relationships/image" Target="../media/image3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9.png"/><Relationship Id="rId4" Type="http://schemas.openxmlformats.org/officeDocument/2006/relationships/image" Target="../media/image43.png"/><Relationship Id="rId5" Type="http://schemas.openxmlformats.org/officeDocument/2006/relationships/image" Target="../media/image50.png"/><Relationship Id="rId6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" name="Google Shape;1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8720" y="1143000"/>
            <a:ext cx="11430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137160" y="24871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Capstone Project – Phase 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137160" y="2852928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Helal Hammoud  &amp;  Asrar Mghes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137160" y="3218688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Advisor: Dr. Ze'ev Frenkel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37160" y="3547872"/>
            <a:ext cx="32004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749040" y="50292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14A085"/>
                </a:solidFill>
                <a:latin typeface="Cambria"/>
                <a:ea typeface="Cambria"/>
                <a:cs typeface="Cambria"/>
                <a:sym typeface="Cambria"/>
              </a:rPr>
              <a:t>WhatsApp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3749040" y="128016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4600"/>
              <a:buFont typeface="Cambria"/>
              <a:buNone/>
            </a:pPr>
            <a:r>
              <a:rPr b="1" lang="en-US" sz="4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Middleware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3749040" y="2057400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4600"/>
              <a:buFont typeface="Cambria"/>
              <a:buNone/>
            </a:pPr>
            <a:r>
              <a:rPr lang="en-US" sz="4600">
                <a:solidFill>
                  <a:srgbClr val="0D7377"/>
                </a:solidFill>
                <a:latin typeface="Cambria"/>
                <a:ea typeface="Cambria"/>
                <a:cs typeface="Cambria"/>
                <a:sym typeface="Cambria"/>
              </a:rPr>
              <a:t>Platform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749040" y="3017520"/>
            <a:ext cx="51206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An Event-Driven, Scalable Middleware for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Real-Time Business Automation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160" y="123444"/>
            <a:ext cx="3200400" cy="7589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Agenda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365760" y="950976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95097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896112" y="100584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Background &amp; Motivation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65760" y="1527048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365760" y="152704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96112" y="158191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365760" y="2103120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65760" y="210312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96112" y="2157984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Existing Approaches &amp; Gap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5760" y="2679192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65760" y="267919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896112" y="273405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Proposed Solution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65760" y="3255264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65760" y="3255264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896112" y="331012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Goals &amp; Expected Achievements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65760" y="3831336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65760" y="383133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96112" y="388620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65760" y="4407408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65760" y="440740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5239512" y="2175384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Activity Diagrams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4709160" y="950976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709160" y="95097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5212080" y="100584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Use Case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4709160" y="1527048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09160" y="1527048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5212080" y="1608456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709160" y="2103120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09160" y="2103120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5239512" y="278803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User-System Dialogue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4709160" y="2679192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4709160" y="2679192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5239512" y="3319272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Tools &amp; Technologies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09160" y="3255264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4709160" y="3255264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5239512" y="3886200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Success Criteria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4709160" y="3831336"/>
            <a:ext cx="457200" cy="402336"/>
          </a:xfrm>
          <a:prstGeom prst="roundRect">
            <a:avLst>
              <a:gd fmla="val 15909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709160" y="3831336"/>
            <a:ext cx="457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896112" y="4407408"/>
            <a:ext cx="3931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Main System Requirements</a:t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84048" y="128016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Background &amp; Motivation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274320" y="877824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050"/>
              <a:buFont typeface="Calibri"/>
              <a:buNone/>
            </a:pPr>
            <a:r>
              <a:rPr b="1" lang="en-US" sz="10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Current Situation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301752" y="1161288"/>
            <a:ext cx="2743200" cy="1188720"/>
          </a:xfrm>
          <a:prstGeom prst="roundRect">
            <a:avLst>
              <a:gd fmla="val 9231" name="adj"/>
            </a:avLst>
          </a:prstGeom>
          <a:solidFill>
            <a:srgbClr val="C5D5E5"/>
          </a:solidFill>
          <a:ln cap="flat" cmpd="sng" w="12700">
            <a:solidFill>
              <a:srgbClr val="C5D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74320" y="1133856"/>
            <a:ext cx="2743200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20624" y="1289304"/>
            <a:ext cx="603504" cy="603504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173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3"/>
          <p:cNvSpPr/>
          <p:nvPr/>
        </p:nvSpPr>
        <p:spPr>
          <a:xfrm>
            <a:off x="1152144" y="1225296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0D7377"/>
                </a:solidFill>
                <a:latin typeface="Cambria"/>
                <a:ea typeface="Cambria"/>
                <a:cs typeface="Cambria"/>
                <a:sym typeface="Cambria"/>
              </a:rPr>
              <a:t>2B+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152144" y="164592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WhatsApp monthly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active users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227832" y="1161288"/>
            <a:ext cx="2743200" cy="1188720"/>
          </a:xfrm>
          <a:prstGeom prst="roundRect">
            <a:avLst>
              <a:gd fmla="val 9231" name="adj"/>
            </a:avLst>
          </a:prstGeom>
          <a:solidFill>
            <a:srgbClr val="C5D5E5"/>
          </a:solidFill>
          <a:ln cap="flat" cmpd="sng" w="12700">
            <a:solidFill>
              <a:srgbClr val="C5D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3200400" y="1133856"/>
            <a:ext cx="2743200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346704" y="1289304"/>
            <a:ext cx="603504" cy="603504"/>
          </a:xfrm>
          <a:prstGeom prst="ellipse">
            <a:avLst/>
          </a:prstGeom>
          <a:solidFill>
            <a:srgbClr val="E4EAF5"/>
          </a:solidFill>
          <a:ln cap="flat" cmpd="sng" w="12700">
            <a:solidFill>
              <a:srgbClr val="E4EA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0" y="14173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3"/>
          <p:cNvSpPr/>
          <p:nvPr/>
        </p:nvSpPr>
        <p:spPr>
          <a:xfrm>
            <a:off x="4078224" y="1225296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E3A5F"/>
                </a:solidFill>
                <a:latin typeface="Cambria"/>
                <a:ea typeface="Cambria"/>
                <a:cs typeface="Cambria"/>
                <a:sym typeface="Cambria"/>
              </a:rPr>
              <a:t>200M+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078224" y="164592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WhatsApp Business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monthly active users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153912" y="1161288"/>
            <a:ext cx="2743200" cy="1188720"/>
          </a:xfrm>
          <a:prstGeom prst="roundRect">
            <a:avLst>
              <a:gd fmla="val 9231" name="adj"/>
            </a:avLst>
          </a:prstGeom>
          <a:solidFill>
            <a:srgbClr val="C5D5E5"/>
          </a:solidFill>
          <a:ln cap="flat" cmpd="sng" w="12700">
            <a:solidFill>
              <a:srgbClr val="C5D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6126480" y="1133856"/>
            <a:ext cx="2743200" cy="1188720"/>
          </a:xfrm>
          <a:prstGeom prst="roundRect">
            <a:avLst>
              <a:gd fmla="val 9231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6272784" y="1289304"/>
            <a:ext cx="603504" cy="603504"/>
          </a:xfrm>
          <a:prstGeom prst="ellipse">
            <a:avLst/>
          </a:prstGeom>
          <a:solidFill>
            <a:srgbClr val="DFF5EC"/>
          </a:solidFill>
          <a:ln cap="flat" cmpd="sng" w="12700">
            <a:solidFill>
              <a:srgbClr val="DFF5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0" y="141732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3"/>
          <p:cNvSpPr/>
          <p:nvPr/>
        </p:nvSpPr>
        <p:spPr>
          <a:xfrm>
            <a:off x="7004304" y="1225296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14A085"/>
                </a:solidFill>
                <a:latin typeface="Cambria"/>
                <a:ea typeface="Cambria"/>
                <a:cs typeface="Cambria"/>
                <a:sym typeface="Cambria"/>
              </a:rPr>
              <a:t>#1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7004304" y="1645920"/>
            <a:ext cx="17373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Preferred business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communication channel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237744" y="2734056"/>
            <a:ext cx="4224528" cy="2121408"/>
          </a:xfrm>
          <a:prstGeom prst="roundRect">
            <a:avLst>
              <a:gd fmla="val 6034" name="adj"/>
            </a:avLst>
          </a:prstGeom>
          <a:solidFill>
            <a:srgbClr val="C5D5E5"/>
          </a:solidFill>
          <a:ln cap="flat" cmpd="sng" w="12700">
            <a:solidFill>
              <a:srgbClr val="C5D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37744" y="2706624"/>
            <a:ext cx="4224528" cy="2121408"/>
          </a:xfrm>
          <a:prstGeom prst="roundRect">
            <a:avLst>
              <a:gd fmla="val 6034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237744" y="2706624"/>
            <a:ext cx="4224528" cy="475488"/>
          </a:xfrm>
          <a:prstGeom prst="roundRect">
            <a:avLst>
              <a:gd fmla="val 26923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37744" y="2944368"/>
            <a:ext cx="4224528" cy="237744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1" name="Google Shape;101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4048" y="28163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3"/>
          <p:cNvSpPr/>
          <p:nvPr/>
        </p:nvSpPr>
        <p:spPr>
          <a:xfrm>
            <a:off x="731520" y="2798064"/>
            <a:ext cx="3675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Small Business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365760" y="3291840"/>
            <a:ext cx="396849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Customer requests are handled manually.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Employees process requests one by one.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Slow and difficult to scale.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681728" y="2734056"/>
            <a:ext cx="4224528" cy="2121408"/>
          </a:xfrm>
          <a:prstGeom prst="roundRect">
            <a:avLst>
              <a:gd fmla="val 6034" name="adj"/>
            </a:avLst>
          </a:prstGeom>
          <a:solidFill>
            <a:srgbClr val="C5D5E5"/>
          </a:solidFill>
          <a:ln cap="flat" cmpd="sng" w="12700">
            <a:solidFill>
              <a:srgbClr val="C5D5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681728" y="2706624"/>
            <a:ext cx="4224528" cy="2121408"/>
          </a:xfrm>
          <a:prstGeom prst="roundRect">
            <a:avLst>
              <a:gd fmla="val 6034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681728" y="2706624"/>
            <a:ext cx="4224528" cy="475488"/>
          </a:xfrm>
          <a:prstGeom prst="roundRect">
            <a:avLst>
              <a:gd fmla="val 26923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681728" y="2944368"/>
            <a:ext cx="4224528" cy="237744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8" name="Google Shape;108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8032" y="281635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"/>
          <p:cNvSpPr/>
          <p:nvPr/>
        </p:nvSpPr>
        <p:spPr>
          <a:xfrm>
            <a:off x="5175504" y="2798064"/>
            <a:ext cx="36758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Large Business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4846320" y="3291840"/>
            <a:ext cx="3968496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Backend systems already exist.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WhatsApp requires custom integrations.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2A2A2A"/>
                </a:solidFill>
                <a:latin typeface="Calibri"/>
                <a:ea typeface="Calibri"/>
                <a:cs typeface="Calibri"/>
                <a:sym typeface="Calibri"/>
              </a:rPr>
              <a:t>Expensive and difficult to reuse.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237744" y="4882896"/>
            <a:ext cx="8668512" cy="164592"/>
          </a:xfrm>
          <a:prstGeom prst="roundRect">
            <a:avLst>
              <a:gd fmla="val 33333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237744" y="4882896"/>
            <a:ext cx="86685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9FE1CB"/>
                </a:solidFill>
                <a:latin typeface="Calibri"/>
                <a:ea typeface="Calibri"/>
                <a:cs typeface="Calibri"/>
                <a:sym typeface="Calibri"/>
              </a:rPr>
              <a:t>So, what exactly is the problem? → Let's look at it in the next slide.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8732520" y="47731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Problem Definition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20040" y="959958"/>
            <a:ext cx="8412480" cy="914400"/>
          </a:xfrm>
          <a:prstGeom prst="roundRect">
            <a:avLst>
              <a:gd fmla="val 10000" name="adj"/>
            </a:avLst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2920" y="960120"/>
            <a:ext cx="8138160" cy="12772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The lack of a reusable middleware layer that bridges WhatsApp customer communication and backend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292608" y="1965960"/>
            <a:ext cx="2011680" cy="2697480"/>
          </a:xfrm>
          <a:prstGeom prst="roundRect">
            <a:avLst>
              <a:gd fmla="val 4545" name="adj"/>
            </a:avLst>
          </a:prstGeom>
          <a:solidFill>
            <a:srgbClr val="EEF6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4" name="Google Shape;1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4128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4"/>
          <p:cNvSpPr/>
          <p:nvPr/>
        </p:nvSpPr>
        <p:spPr>
          <a:xfrm>
            <a:off x="365760" y="25968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Manual Handling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65760" y="2980944"/>
            <a:ext cx="18653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Employees manually read and reply to each customer message.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2459736" y="1965960"/>
            <a:ext cx="2011680" cy="2697480"/>
          </a:xfrm>
          <a:prstGeom prst="roundRect">
            <a:avLst>
              <a:gd fmla="val 4545" name="adj"/>
            </a:avLst>
          </a:prstGeom>
          <a:solidFill>
            <a:srgbClr val="EEF6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91256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2532888" y="25968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No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532888" y="2980944"/>
            <a:ext cx="18653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No direct integration between WhatsApp and backend business systems.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626864" y="1965960"/>
            <a:ext cx="2011680" cy="2697480"/>
          </a:xfrm>
          <a:prstGeom prst="roundRect">
            <a:avLst>
              <a:gd fmla="val 4545" name="adj"/>
            </a:avLst>
          </a:prstGeom>
          <a:solidFill>
            <a:srgbClr val="EEF6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58384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4"/>
          <p:cNvSpPr/>
          <p:nvPr/>
        </p:nvSpPr>
        <p:spPr>
          <a:xfrm>
            <a:off x="4700016" y="25968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Tight Coupling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700016" y="2980944"/>
            <a:ext cx="18653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Each business requires a custom integration, making reuse difficult.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793992" y="1965960"/>
            <a:ext cx="2011680" cy="2697480"/>
          </a:xfrm>
          <a:prstGeom prst="roundRect">
            <a:avLst>
              <a:gd fmla="val 4545" name="adj"/>
            </a:avLst>
          </a:prstGeom>
          <a:solidFill>
            <a:srgbClr val="EEF6FB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6" name="Google Shape;1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5512" y="2048256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/>
          <p:nvPr/>
        </p:nvSpPr>
        <p:spPr>
          <a:xfrm>
            <a:off x="6867144" y="2596896"/>
            <a:ext cx="186537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No Scalability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6867144" y="2980944"/>
            <a:ext cx="1865376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Manual and custom solutions cannot scale with growing request volumes.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Existing Approaches &amp; Gap Analysis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20040" y="932688"/>
            <a:ext cx="192024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20040" y="932688"/>
            <a:ext cx="1920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2331720" y="932688"/>
            <a:ext cx="219456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2331720" y="932688"/>
            <a:ext cx="2194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Advantage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617720" y="932688"/>
            <a:ext cx="269748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617720" y="932688"/>
            <a:ext cx="2697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Limitation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7406640" y="932688"/>
            <a:ext cx="1371600" cy="3840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7406640" y="932688"/>
            <a:ext cx="1371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Selected?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20040" y="132588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Chatbot-based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2331720" y="1325880"/>
            <a:ext cx="21945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Automates simple replies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617720" y="1325880"/>
            <a:ext cx="26974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Limited backend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7406640" y="1325880"/>
            <a:ext cx="13716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20040" y="1828800"/>
            <a:ext cx="1920240" cy="4754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Direct 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331720" y="1828800"/>
            <a:ext cx="2194560" cy="4754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Direct API access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617720" y="1828800"/>
            <a:ext cx="2697480" cy="4754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Not reusable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7406640" y="1828800"/>
            <a:ext cx="1371600" cy="475488"/>
          </a:xfrm>
          <a:prstGeom prst="rect">
            <a:avLst/>
          </a:prstGeom>
          <a:solidFill>
            <a:srgbClr val="EE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20040" y="2331720"/>
            <a:ext cx="1920240" cy="475488"/>
          </a:xfrm>
          <a:prstGeom prst="rect">
            <a:avLst/>
          </a:prstGeom>
          <a:solidFill>
            <a:srgbClr val="D6F0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2331720" y="2331720"/>
            <a:ext cx="2194560" cy="475488"/>
          </a:xfrm>
          <a:prstGeom prst="rect">
            <a:avLst/>
          </a:prstGeom>
          <a:solidFill>
            <a:srgbClr val="D6F0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Reusable, decoupled, scalable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4617720" y="2331720"/>
            <a:ext cx="2697480" cy="475488"/>
          </a:xfrm>
          <a:prstGeom prst="rect">
            <a:avLst/>
          </a:prstGeom>
          <a:solidFill>
            <a:srgbClr val="D6F0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Requires more design effort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7406640" y="2331720"/>
            <a:ext cx="1371600" cy="475488"/>
          </a:xfrm>
          <a:prstGeom prst="rect">
            <a:avLst/>
          </a:prstGeom>
          <a:solidFill>
            <a:srgbClr val="D6F0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7A4A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7A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20040" y="2926080"/>
            <a:ext cx="8503920" cy="1783080"/>
          </a:xfrm>
          <a:prstGeom prst="roundRect">
            <a:avLst>
              <a:gd fmla="val 5128" name="adj"/>
            </a:avLst>
          </a:prstGeom>
          <a:solidFill>
            <a:srgbClr val="EEF6F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305409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5"/>
          <p:cNvSpPr/>
          <p:nvPr/>
        </p:nvSpPr>
        <p:spPr>
          <a:xfrm>
            <a:off x="1005840" y="2999232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Key Gap Identified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02920" y="3364992"/>
            <a:ext cx="82296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Existing solutions are typically either chatbot-based or rely on custom point-to-point integrations.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200"/>
              <a:buFont typeface="Calibri"/>
              <a:buChar char="•"/>
            </a:pPr>
            <a:r>
              <a:rPr lang="en-US" sz="12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Current solutions do not provide a reusable middleware platform for integrating WhatsApp with backend business systems across different businesses.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411480" y="118872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Proposed Solution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11480" y="594360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9FE1CB"/>
                </a:solidFill>
                <a:latin typeface="Calibri"/>
                <a:ea typeface="Calibri"/>
                <a:cs typeface="Calibri"/>
                <a:sym typeface="Calibri"/>
              </a:rPr>
              <a:t>Reusable Middleware Platform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7200" y="1417320"/>
            <a:ext cx="1691640" cy="2286000"/>
          </a:xfrm>
          <a:prstGeom prst="roundRect">
            <a:avLst>
              <a:gd fmla="val 7568" name="adj"/>
            </a:avLst>
          </a:prstGeom>
          <a:solidFill>
            <a:srgbClr val="FFFFFF"/>
          </a:solidFill>
          <a:ln cap="flat" cmpd="sng" w="15225">
            <a:solidFill>
              <a:srgbClr val="B5DEC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891540" y="1691640"/>
            <a:ext cx="822960" cy="822960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32" y="185623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6"/>
          <p:cNvSpPr/>
          <p:nvPr/>
        </p:nvSpPr>
        <p:spPr>
          <a:xfrm>
            <a:off x="457200" y="26974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548640" y="308152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Sends a request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via WhatsApp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995160" y="1417320"/>
            <a:ext cx="1691640" cy="2286000"/>
          </a:xfrm>
          <a:prstGeom prst="roundRect">
            <a:avLst>
              <a:gd fmla="val 7568" name="adj"/>
            </a:avLst>
          </a:prstGeom>
          <a:solidFill>
            <a:srgbClr val="FFFFFF"/>
          </a:solidFill>
          <a:ln cap="flat" cmpd="sng" w="15225">
            <a:solidFill>
              <a:srgbClr val="F0CFA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7429500" y="1691640"/>
            <a:ext cx="822960" cy="822960"/>
          </a:xfrm>
          <a:prstGeom prst="ellipse">
            <a:avLst/>
          </a:prstGeom>
          <a:solidFill>
            <a:srgbClr val="FDE8CC"/>
          </a:solidFill>
          <a:ln cap="flat" cmpd="sng" w="12700">
            <a:solidFill>
              <a:srgbClr val="FDE8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94092" y="1856232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/>
          <p:nvPr/>
        </p:nvSpPr>
        <p:spPr>
          <a:xfrm>
            <a:off x="6995160" y="26974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086600" y="3081528"/>
            <a:ext cx="15087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Business systems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&amp; operations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2148840" y="2331720"/>
            <a:ext cx="4846320" cy="310896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2148840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2734056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3319272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3904488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4489704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074920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5660136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245352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830568" y="2476195"/>
            <a:ext cx="164592" cy="21946"/>
          </a:xfrm>
          <a:prstGeom prst="rect">
            <a:avLst/>
          </a:prstGeom>
          <a:solidFill>
            <a:srgbClr val="14A085"/>
          </a:solidFill>
          <a:ln cap="flat" cmpd="sng" w="12700">
            <a:solidFill>
              <a:srgbClr val="14A0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3717036" y="1028700"/>
            <a:ext cx="1783080" cy="1417320"/>
          </a:xfrm>
          <a:prstGeom prst="roundRect">
            <a:avLst>
              <a:gd fmla="val 9032" name="adj"/>
            </a:avLst>
          </a:prstGeom>
          <a:solidFill>
            <a:srgbClr val="BFD0E0"/>
          </a:solidFill>
          <a:ln cap="flat" cmpd="sng" w="12700">
            <a:solidFill>
              <a:srgbClr val="BF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3680460" y="992124"/>
            <a:ext cx="1783080" cy="1417320"/>
          </a:xfrm>
          <a:prstGeom prst="roundRect">
            <a:avLst>
              <a:gd fmla="val 9032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187952" y="1156716"/>
            <a:ext cx="768096" cy="768096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3" name="Google Shape;20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5112" y="1293876"/>
            <a:ext cx="493776" cy="49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6"/>
          <p:cNvSpPr/>
          <p:nvPr/>
        </p:nvSpPr>
        <p:spPr>
          <a:xfrm>
            <a:off x="3680460" y="1979676"/>
            <a:ext cx="1783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65760" y="4572000"/>
            <a:ext cx="8412480" cy="457200"/>
          </a:xfrm>
          <a:prstGeom prst="roundRect">
            <a:avLst>
              <a:gd fmla="val 20000" name="adj"/>
            </a:avLst>
          </a:prstGeom>
          <a:solidFill>
            <a:srgbClr val="E1F5EE"/>
          </a:solidFill>
          <a:ln cap="flat" cmpd="sng" w="9525">
            <a:solidFill>
              <a:srgbClr val="BDE5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6E56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F6E56"/>
                </a:solidFill>
                <a:latin typeface="Calibri"/>
                <a:ea typeface="Calibri"/>
                <a:cs typeface="Calibri"/>
                <a:sym typeface="Calibri"/>
              </a:rPr>
              <a:t>Reusable  •  Flexible  •  Scalable — one middleware platform for many businesses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8732520" y="47731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384048" y="128016"/>
            <a:ext cx="841248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b="1" lang="en-US" sz="27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Goals &amp; Expected Achievements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74320" y="87782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Project Goals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274320" y="1188720"/>
            <a:ext cx="3474720" cy="3657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394960" y="877824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Expected Achievements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5394960" y="1188720"/>
            <a:ext cx="3474720" cy="36576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301752" y="1325880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74320" y="1298448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74320" y="1298448"/>
            <a:ext cx="54864" cy="749808"/>
          </a:xfrm>
          <a:prstGeom prst="roundRect">
            <a:avLst>
              <a:gd fmla="val 100000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02336" y="1463040"/>
            <a:ext cx="420624" cy="420624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3" name="Google Shape;22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776" y="15453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7"/>
          <p:cNvSpPr/>
          <p:nvPr/>
        </p:nvSpPr>
        <p:spPr>
          <a:xfrm>
            <a:off x="932688" y="1463040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Connect WhatsApp with backend business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422392" y="1325880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394960" y="1298448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 cap="flat" cmpd="sng" w="95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522976" y="1463040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8" name="Google Shape;22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4416" y="15453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7"/>
          <p:cNvSpPr/>
          <p:nvPr/>
        </p:nvSpPr>
        <p:spPr>
          <a:xfrm>
            <a:off x="6053328" y="1463040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Automated customer interactions through WhatsApp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301752" y="2185416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274320" y="2157984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274320" y="2157984"/>
            <a:ext cx="54864" cy="749808"/>
          </a:xfrm>
          <a:prstGeom prst="roundRect">
            <a:avLst>
              <a:gd fmla="val 10000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02336" y="2322576"/>
            <a:ext cx="420624" cy="420624"/>
          </a:xfrm>
          <a:prstGeom prst="ellipse">
            <a:avLst/>
          </a:prstGeom>
          <a:solidFill>
            <a:srgbClr val="E4EAF5"/>
          </a:solidFill>
          <a:ln cap="flat" cmpd="sng" w="12700">
            <a:solidFill>
              <a:srgbClr val="E4EA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4" name="Google Shape;23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" y="24048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7"/>
          <p:cNvSpPr/>
          <p:nvPr/>
        </p:nvSpPr>
        <p:spPr>
          <a:xfrm>
            <a:off x="932688" y="2322576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Support predefined interaction templates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5422392" y="2185416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5394960" y="2157984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E4EAF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5522976" y="2322576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9" name="Google Shape;239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14416" y="2404872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7"/>
          <p:cNvSpPr/>
          <p:nvPr/>
        </p:nvSpPr>
        <p:spPr>
          <a:xfrm>
            <a:off x="6053328" y="2322576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Reduced manual handling of customer requests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301752" y="3044952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74320" y="3017520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274320" y="3017520"/>
            <a:ext cx="54864" cy="749808"/>
          </a:xfrm>
          <a:prstGeom prst="roundRect">
            <a:avLst>
              <a:gd fmla="val 100000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02336" y="3182112"/>
            <a:ext cx="420624" cy="420624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5" name="Google Shape;245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" y="32644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7"/>
          <p:cNvSpPr/>
          <p:nvPr/>
        </p:nvSpPr>
        <p:spPr>
          <a:xfrm>
            <a:off x="932688" y="3182112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Enable workflow-driven customer interactions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422392" y="3044952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394960" y="3017520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E1F5EE"/>
          </a:solidFill>
          <a:ln cap="flat" cmpd="sng" w="9525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522976" y="3182112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0" name="Google Shape;25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14416" y="326440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7"/>
          <p:cNvSpPr/>
          <p:nvPr/>
        </p:nvSpPr>
        <p:spPr>
          <a:xfrm>
            <a:off x="6053328" y="3182112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Improved customer interaction management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01752" y="3904488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274320" y="3877056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FFFFFF"/>
          </a:solidFill>
          <a:ln cap="flat" cmpd="sng" w="9525">
            <a:solidFill>
              <a:srgbClr val="D5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274320" y="3877056"/>
            <a:ext cx="54864" cy="749808"/>
          </a:xfrm>
          <a:prstGeom prst="roundRect">
            <a:avLst>
              <a:gd fmla="val 10000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02336" y="4041648"/>
            <a:ext cx="420624" cy="420624"/>
          </a:xfrm>
          <a:prstGeom prst="ellipse">
            <a:avLst/>
          </a:prstGeom>
          <a:solidFill>
            <a:srgbClr val="E4EAF5"/>
          </a:solidFill>
          <a:ln cap="flat" cmpd="sng" w="12700">
            <a:solidFill>
              <a:srgbClr val="E4EA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6" name="Google Shape;256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93776" y="41239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7"/>
          <p:cNvSpPr/>
          <p:nvPr/>
        </p:nvSpPr>
        <p:spPr>
          <a:xfrm>
            <a:off x="932688" y="4041648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Provide reusable middleware for multiple businesses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5422392" y="3904488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C8D8E8"/>
          </a:solidFill>
          <a:ln cap="flat" cmpd="sng" w="12700">
            <a:solidFill>
              <a:srgbClr val="C8D8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5394960" y="3877056"/>
            <a:ext cx="3474720" cy="749808"/>
          </a:xfrm>
          <a:prstGeom prst="roundRect">
            <a:avLst>
              <a:gd fmla="val 12195" name="adj"/>
            </a:avLst>
          </a:prstGeom>
          <a:solidFill>
            <a:srgbClr val="E4EAF5"/>
          </a:solidFill>
          <a:ln cap="flat" cmpd="sng" w="9525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5522976" y="4041648"/>
            <a:ext cx="420624" cy="420624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614416" y="412394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7"/>
          <p:cNvSpPr/>
          <p:nvPr/>
        </p:nvSpPr>
        <p:spPr>
          <a:xfrm>
            <a:off x="6053328" y="4041648"/>
            <a:ext cx="27066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Flexible and scalable middleware 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274320" y="4599432"/>
            <a:ext cx="8595360" cy="384048"/>
          </a:xfrm>
          <a:prstGeom prst="roundRect">
            <a:avLst>
              <a:gd fmla="val 23810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274320" y="4599432"/>
            <a:ext cx="8595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E1C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9FE1CB"/>
                </a:solidFill>
                <a:latin typeface="Calibri"/>
                <a:ea typeface="Calibri"/>
                <a:cs typeface="Calibri"/>
                <a:sym typeface="Calibri"/>
              </a:rPr>
              <a:t>Each goal directly leads to a measurable achievement  →  Together they deliver a complete middleware solution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8732520" y="47731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CCCCC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System Architecture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8"/>
          <p:cNvPicPr preferRelativeResize="0"/>
          <p:nvPr/>
        </p:nvPicPr>
        <p:blipFill rotWithShape="1">
          <a:blip r:embed="rId3">
            <a:alphaModFix/>
          </a:blip>
          <a:srcRect b="4873" l="0" r="0" t="0"/>
          <a:stretch/>
        </p:blipFill>
        <p:spPr>
          <a:xfrm>
            <a:off x="1600200" y="914400"/>
            <a:ext cx="5877128" cy="3795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411480" y="109728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lang="en-US" sz="2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Main System Requirements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283464" y="978408"/>
            <a:ext cx="4224528" cy="4133088"/>
          </a:xfrm>
          <a:prstGeom prst="roundRect">
            <a:avLst>
              <a:gd fmla="val 3540" name="adj"/>
            </a:avLst>
          </a:prstGeom>
          <a:solidFill>
            <a:srgbClr val="BFD0E0"/>
          </a:solidFill>
          <a:ln cap="flat" cmpd="sng" w="12700">
            <a:solidFill>
              <a:srgbClr val="BF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237744" y="932688"/>
            <a:ext cx="4224528" cy="4133088"/>
          </a:xfrm>
          <a:prstGeom prst="roundRect">
            <a:avLst>
              <a:gd fmla="val 3540" name="adj"/>
            </a:avLst>
          </a:prstGeom>
          <a:solidFill>
            <a:srgbClr val="FFFFFF"/>
          </a:solidFill>
          <a:ln cap="flat" cmpd="sng" w="9525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237744" y="932688"/>
            <a:ext cx="4224528" cy="512064"/>
          </a:xfrm>
          <a:prstGeom prst="roundRect">
            <a:avLst>
              <a:gd fmla="val 28571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237744" y="1188720"/>
            <a:ext cx="4224528" cy="256032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420624" y="1024128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Functional Requirements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9"/>
          <p:cNvSpPr/>
          <p:nvPr/>
        </p:nvSpPr>
        <p:spPr>
          <a:xfrm>
            <a:off x="365760" y="1563624"/>
            <a:ext cx="3968496" cy="649224"/>
          </a:xfrm>
          <a:prstGeom prst="rect">
            <a:avLst/>
          </a:prstGeom>
          <a:solidFill>
            <a:srgbClr val="F4FAF9"/>
          </a:solidFill>
          <a:ln cap="flat" cmpd="sng" w="12700">
            <a:solidFill>
              <a:srgbClr val="F4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402336" y="1664208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9" name="Google Shape;28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632" y="17282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9"/>
          <p:cNvSpPr/>
          <p:nvPr/>
        </p:nvSpPr>
        <p:spPr>
          <a:xfrm>
            <a:off x="841248" y="16002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WhatsApp API Integration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841248" y="18379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Integration with WhatsApp Business API for receiving messages and events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2" name="Google Shape;292;p9"/>
          <p:cNvCxnSpPr/>
          <p:nvPr/>
        </p:nvCxnSpPr>
        <p:spPr>
          <a:xfrm>
            <a:off x="365760" y="2221992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0ED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3" name="Google Shape;293;p9"/>
          <p:cNvSpPr/>
          <p:nvPr/>
        </p:nvSpPr>
        <p:spPr>
          <a:xfrm>
            <a:off x="402336" y="2350008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4632" y="24140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9"/>
          <p:cNvSpPr/>
          <p:nvPr/>
        </p:nvSpPr>
        <p:spPr>
          <a:xfrm>
            <a:off x="841248" y="22860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Conversation State Management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>
            <a:off x="841248" y="25237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Manage customer conversation state across multiple interactions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9"/>
          <p:cNvCxnSpPr/>
          <p:nvPr/>
        </p:nvCxnSpPr>
        <p:spPr>
          <a:xfrm>
            <a:off x="365760" y="2907792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0ED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9"/>
          <p:cNvSpPr/>
          <p:nvPr/>
        </p:nvSpPr>
        <p:spPr>
          <a:xfrm>
            <a:off x="365760" y="2935224"/>
            <a:ext cx="3968496" cy="649224"/>
          </a:xfrm>
          <a:prstGeom prst="rect">
            <a:avLst/>
          </a:prstGeom>
          <a:solidFill>
            <a:srgbClr val="F4FAF9"/>
          </a:solidFill>
          <a:ln cap="flat" cmpd="sng" w="12700">
            <a:solidFill>
              <a:srgbClr val="F4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02336" y="3035808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" y="30998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9"/>
          <p:cNvSpPr/>
          <p:nvPr/>
        </p:nvSpPr>
        <p:spPr>
          <a:xfrm>
            <a:off x="841248" y="29718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Workflow Management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841248" y="32095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Support workflow-based customer interaction management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3" name="Google Shape;303;p9"/>
          <p:cNvCxnSpPr/>
          <p:nvPr/>
        </p:nvCxnSpPr>
        <p:spPr>
          <a:xfrm>
            <a:off x="365760" y="3593592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0ED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4" name="Google Shape;304;p9"/>
          <p:cNvSpPr/>
          <p:nvPr/>
        </p:nvSpPr>
        <p:spPr>
          <a:xfrm>
            <a:off x="402336" y="3721608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5" name="Google Shape;305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632" y="37856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9"/>
          <p:cNvSpPr/>
          <p:nvPr/>
        </p:nvSpPr>
        <p:spPr>
          <a:xfrm>
            <a:off x="841248" y="36576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Business Operation Execution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841248" y="38953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Execute business operations through external backend services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9"/>
          <p:cNvCxnSpPr/>
          <p:nvPr/>
        </p:nvCxnSpPr>
        <p:spPr>
          <a:xfrm>
            <a:off x="365760" y="4279392"/>
            <a:ext cx="3968496" cy="0"/>
          </a:xfrm>
          <a:prstGeom prst="straightConnector1">
            <a:avLst/>
          </a:prstGeom>
          <a:noFill/>
          <a:ln cap="flat" cmpd="sng" w="9525">
            <a:solidFill>
              <a:srgbClr val="E0ED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9"/>
          <p:cNvSpPr/>
          <p:nvPr/>
        </p:nvSpPr>
        <p:spPr>
          <a:xfrm>
            <a:off x="365760" y="4306824"/>
            <a:ext cx="3968496" cy="649224"/>
          </a:xfrm>
          <a:prstGeom prst="rect">
            <a:avLst/>
          </a:prstGeom>
          <a:solidFill>
            <a:srgbClr val="F4FAF9"/>
          </a:solidFill>
          <a:ln cap="flat" cmpd="sng" w="12700">
            <a:solidFill>
              <a:srgbClr val="F4F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402336" y="4407408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1" name="Google Shape;31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632" y="4471416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9"/>
          <p:cNvSpPr/>
          <p:nvPr/>
        </p:nvSpPr>
        <p:spPr>
          <a:xfrm>
            <a:off x="841248" y="4343400"/>
            <a:ext cx="3474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Workflow &amp; Backend Config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"/>
          <p:cNvSpPr/>
          <p:nvPr/>
        </p:nvSpPr>
        <p:spPr>
          <a:xfrm>
            <a:off x="841248" y="4581144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Configure communication workflows and backend API integrations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727448" y="978408"/>
            <a:ext cx="4224528" cy="4133088"/>
          </a:xfrm>
          <a:prstGeom prst="roundRect">
            <a:avLst>
              <a:gd fmla="val 3540" name="adj"/>
            </a:avLst>
          </a:prstGeom>
          <a:solidFill>
            <a:srgbClr val="BFD0E0"/>
          </a:solidFill>
          <a:ln cap="flat" cmpd="sng" w="12700">
            <a:solidFill>
              <a:srgbClr val="BFD0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681728" y="932688"/>
            <a:ext cx="4224528" cy="4133088"/>
          </a:xfrm>
          <a:prstGeom prst="roundRect">
            <a:avLst>
              <a:gd fmla="val 3540" name="adj"/>
            </a:avLst>
          </a:prstGeom>
          <a:solidFill>
            <a:srgbClr val="FFFFFF"/>
          </a:solidFill>
          <a:ln cap="flat" cmpd="sng" w="9525">
            <a:solidFill>
              <a:srgbClr val="D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681728" y="932688"/>
            <a:ext cx="4224528" cy="512064"/>
          </a:xfrm>
          <a:prstGeom prst="roundRect">
            <a:avLst>
              <a:gd fmla="val 28571" name="adj"/>
            </a:avLst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4681728" y="1188720"/>
            <a:ext cx="4224528" cy="256032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4864608" y="1024128"/>
            <a:ext cx="3968496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1"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Non-Functional Requirements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4809744" y="1591056"/>
            <a:ext cx="3968496" cy="777240"/>
          </a:xfrm>
          <a:prstGeom prst="roundRect">
            <a:avLst>
              <a:gd fmla="val 10588" name="adj"/>
            </a:avLst>
          </a:prstGeom>
          <a:solidFill>
            <a:srgbClr val="F7FAFB"/>
          </a:solidFill>
          <a:ln cap="flat" cmpd="sng" w="9525">
            <a:solidFill>
              <a:srgbClr val="E4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809744" y="1591056"/>
            <a:ext cx="54864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937760" y="1737360"/>
            <a:ext cx="384048" cy="384048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2" name="Google Shape;322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29200" y="181051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9"/>
          <p:cNvSpPr/>
          <p:nvPr/>
        </p:nvSpPr>
        <p:spPr>
          <a:xfrm>
            <a:off x="5413248" y="1645920"/>
            <a:ext cx="3310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Scalability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413248" y="1938528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Concurrent processing of multiple customer interactions without degradation in response time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809744" y="2459736"/>
            <a:ext cx="3968496" cy="777240"/>
          </a:xfrm>
          <a:prstGeom prst="roundRect">
            <a:avLst>
              <a:gd fmla="val 10588" name="adj"/>
            </a:avLst>
          </a:prstGeom>
          <a:solidFill>
            <a:srgbClr val="F7FAFB"/>
          </a:solidFill>
          <a:ln cap="flat" cmpd="sng" w="9525">
            <a:solidFill>
              <a:srgbClr val="E4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809744" y="2459736"/>
            <a:ext cx="54864" cy="7772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937760" y="2606040"/>
            <a:ext cx="384048" cy="384048"/>
          </a:xfrm>
          <a:prstGeom prst="ellipse">
            <a:avLst/>
          </a:prstGeom>
          <a:solidFill>
            <a:srgbClr val="E8EEF6"/>
          </a:solidFill>
          <a:ln cap="flat" cmpd="sng" w="12700">
            <a:solidFill>
              <a:srgbClr val="E8E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29200" y="267919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9"/>
          <p:cNvSpPr/>
          <p:nvPr/>
        </p:nvSpPr>
        <p:spPr>
          <a:xfrm>
            <a:off x="5413248" y="2514600"/>
            <a:ext cx="3310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Reliability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5413248" y="2807208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Reliable processing and delivery of customer interactions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809744" y="3328416"/>
            <a:ext cx="3968496" cy="777240"/>
          </a:xfrm>
          <a:prstGeom prst="roundRect">
            <a:avLst>
              <a:gd fmla="val 10588" name="adj"/>
            </a:avLst>
          </a:prstGeom>
          <a:solidFill>
            <a:srgbClr val="F7FAFB"/>
          </a:solidFill>
          <a:ln cap="flat" cmpd="sng" w="9525">
            <a:solidFill>
              <a:srgbClr val="E4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809744" y="3328416"/>
            <a:ext cx="54864" cy="777240"/>
          </a:xfrm>
          <a:prstGeom prst="rect">
            <a:avLst/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937760" y="3474720"/>
            <a:ext cx="384048" cy="384048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4" name="Google Shape;334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029200" y="354787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9"/>
          <p:cNvSpPr/>
          <p:nvPr/>
        </p:nvSpPr>
        <p:spPr>
          <a:xfrm>
            <a:off x="5413248" y="3383280"/>
            <a:ext cx="3310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Maintainability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5413248" y="3675888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Separation between communication handling and business logic components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809744" y="4197096"/>
            <a:ext cx="3968496" cy="777240"/>
          </a:xfrm>
          <a:prstGeom prst="roundRect">
            <a:avLst>
              <a:gd fmla="val 10588" name="adj"/>
            </a:avLst>
          </a:prstGeom>
          <a:solidFill>
            <a:srgbClr val="F7FAFB"/>
          </a:solidFill>
          <a:ln cap="flat" cmpd="sng" w="9525">
            <a:solidFill>
              <a:srgbClr val="E4ED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809744" y="4197096"/>
            <a:ext cx="54864" cy="777240"/>
          </a:xfrm>
          <a:prstGeom prst="rect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937760" y="4343400"/>
            <a:ext cx="384048" cy="384048"/>
          </a:xfrm>
          <a:prstGeom prst="ellipse">
            <a:avLst/>
          </a:prstGeom>
          <a:solidFill>
            <a:srgbClr val="E8EEF6"/>
          </a:solidFill>
          <a:ln cap="flat" cmpd="sng" w="12700">
            <a:solidFill>
              <a:srgbClr val="E8E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29200" y="4416552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9"/>
          <p:cNvSpPr/>
          <p:nvPr/>
        </p:nvSpPr>
        <p:spPr>
          <a:xfrm>
            <a:off x="5413248" y="4251960"/>
            <a:ext cx="3310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Extensibility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5413248" y="4544568"/>
            <a:ext cx="3310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A6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4A5A6A"/>
                </a:solidFill>
                <a:latin typeface="Calibri"/>
                <a:ea typeface="Calibri"/>
                <a:cs typeface="Calibri"/>
                <a:sym typeface="Calibri"/>
              </a:rPr>
              <a:t>Add new workflows and backend integrations without major modifications to the architecture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8732520" y="47731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AAAAA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Use Case Diagram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ook_images/image2.png" id="351" name="Google Shape;35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886968"/>
            <a:ext cx="530352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0"/>
          <p:cNvSpPr/>
          <p:nvPr/>
        </p:nvSpPr>
        <p:spPr>
          <a:xfrm>
            <a:off x="5806440" y="91440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Actors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806440" y="1316736"/>
            <a:ext cx="310896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5943600" y="137160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5943600" y="1682496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Books appointments, checks status, requests support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5806440" y="2139696"/>
            <a:ext cx="3108960" cy="749808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5943600" y="21945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Business Manager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943600" y="2505456"/>
            <a:ext cx="28346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Configures workflows, backend APIs, views logs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5806440" y="3017520"/>
            <a:ext cx="31089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Key Use Cases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5806440" y="3383280"/>
            <a:ext cx="31546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Book / Cancel / Check Appointment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Service Inquiry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Request Human Assistance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Configure Backend API Integration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00"/>
              <a:buFont typeface="Calibri"/>
              <a:buChar char="•"/>
            </a:pPr>
            <a:r>
              <a:rPr lang="en-US" sz="110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View Customer Interaction Logs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Google Shape;366;g3f1ea28525b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3f1ea28525b_0_114"/>
          <p:cNvSpPr/>
          <p:nvPr/>
        </p:nvSpPr>
        <p:spPr>
          <a:xfrm>
            <a:off x="8732520" y="4754880"/>
            <a:ext cx="32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Activity Diagram: Incoming Message Handling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ook_images/image6.png" id="375" name="Google Shape;3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886968"/>
            <a:ext cx="6400800" cy="406908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2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ook_images/image7.png" id="384" name="Google Shape;3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6575" y="45725"/>
            <a:ext cx="6559000" cy="505205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13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4"/>
          <p:cNvSpPr/>
          <p:nvPr/>
        </p:nvSpPr>
        <p:spPr>
          <a:xfrm>
            <a:off x="-9144" y="-4572"/>
            <a:ext cx="9144000" cy="7772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4"/>
          <p:cNvSpPr/>
          <p:nvPr/>
        </p:nvSpPr>
        <p:spPr>
          <a:xfrm>
            <a:off x="384048" y="118872"/>
            <a:ext cx="8412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lang="en-US"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Example: User–System Dialogue &amp; Database Updates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4"/>
          <p:cNvSpPr/>
          <p:nvPr/>
        </p:nvSpPr>
        <p:spPr>
          <a:xfrm>
            <a:off x="1063959" y="1446601"/>
            <a:ext cx="260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"/>
              <a:buFont typeface="Calibri"/>
              <a:buNone/>
            </a:pPr>
            <a:r>
              <a:t/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4"/>
          <p:cNvSpPr/>
          <p:nvPr/>
        </p:nvSpPr>
        <p:spPr>
          <a:xfrm>
            <a:off x="1063959" y="1629481"/>
            <a:ext cx="2606100" cy="457200"/>
          </a:xfrm>
          <a:prstGeom prst="roundRect">
            <a:avLst>
              <a:gd fmla="val 28000" name="adj"/>
            </a:avLst>
          </a:prstGeom>
          <a:solidFill>
            <a:srgbClr val="DDF4EC"/>
          </a:solidFill>
          <a:ln cap="flat" cmpd="sng" w="12700">
            <a:solidFill>
              <a:srgbClr val="B5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 rot="10800000">
            <a:off x="954147" y="1757413"/>
            <a:ext cx="128100" cy="128100"/>
          </a:xfrm>
          <a:prstGeom prst="rtTriangle">
            <a:avLst/>
          </a:prstGeom>
          <a:solidFill>
            <a:srgbClr val="DDF4EC"/>
          </a:solidFill>
          <a:ln cap="flat" cmpd="sng" w="12700">
            <a:solidFill>
              <a:srgbClr val="DDF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1210263" y="1711777"/>
            <a:ext cx="234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0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A4035"/>
                </a:solidFill>
                <a:latin typeface="Calibri"/>
                <a:ea typeface="Calibri"/>
                <a:cs typeface="Calibri"/>
                <a:sym typeface="Calibri"/>
              </a:rPr>
              <a:t>Hi, I'd like to book an appointment.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4"/>
          <p:cNvSpPr/>
          <p:nvPr/>
        </p:nvSpPr>
        <p:spPr>
          <a:xfrm>
            <a:off x="4031463" y="1820826"/>
            <a:ext cx="260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8A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78A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031463" y="2003706"/>
            <a:ext cx="2606100" cy="457200"/>
          </a:xfrm>
          <a:prstGeom prst="roundRect">
            <a:avLst>
              <a:gd fmla="val 28000" name="adj"/>
            </a:avLst>
          </a:prstGeom>
          <a:solidFill>
            <a:srgbClr val="1E3A5F"/>
          </a:solidFill>
          <a:ln cap="flat" cmpd="sng" w="12700">
            <a:solidFill>
              <a:srgbClr val="243D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6637504" y="2131722"/>
            <a:ext cx="128100" cy="128100"/>
          </a:xfrm>
          <a:prstGeom prst="rtTriangl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4"/>
          <p:cNvSpPr/>
          <p:nvPr/>
        </p:nvSpPr>
        <p:spPr>
          <a:xfrm>
            <a:off x="4177768" y="2086002"/>
            <a:ext cx="234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Sure! What service do you need?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4"/>
          <p:cNvSpPr/>
          <p:nvPr/>
        </p:nvSpPr>
        <p:spPr>
          <a:xfrm>
            <a:off x="1063959" y="2381822"/>
            <a:ext cx="260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4"/>
          <p:cNvSpPr/>
          <p:nvPr/>
        </p:nvSpPr>
        <p:spPr>
          <a:xfrm>
            <a:off x="1063959" y="2564702"/>
            <a:ext cx="2606100" cy="457200"/>
          </a:xfrm>
          <a:prstGeom prst="roundRect">
            <a:avLst>
              <a:gd fmla="val 28000" name="adj"/>
            </a:avLst>
          </a:prstGeom>
          <a:solidFill>
            <a:srgbClr val="DDF4EC"/>
          </a:solidFill>
          <a:ln cap="flat" cmpd="sng" w="12700">
            <a:solidFill>
              <a:srgbClr val="B5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4"/>
          <p:cNvSpPr/>
          <p:nvPr/>
        </p:nvSpPr>
        <p:spPr>
          <a:xfrm rot="10800000">
            <a:off x="954147" y="2692634"/>
            <a:ext cx="128100" cy="128100"/>
          </a:xfrm>
          <a:prstGeom prst="rtTriangle">
            <a:avLst/>
          </a:prstGeom>
          <a:solidFill>
            <a:srgbClr val="DDF4EC"/>
          </a:solidFill>
          <a:ln cap="flat" cmpd="sng" w="12700">
            <a:solidFill>
              <a:srgbClr val="DDF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4"/>
          <p:cNvSpPr/>
          <p:nvPr/>
        </p:nvSpPr>
        <p:spPr>
          <a:xfrm>
            <a:off x="1210263" y="2646998"/>
            <a:ext cx="234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0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A4035"/>
                </a:solidFill>
                <a:latin typeface="Calibri"/>
                <a:ea typeface="Calibri"/>
                <a:cs typeface="Calibri"/>
                <a:sym typeface="Calibri"/>
              </a:rPr>
              <a:t>Consultation.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4"/>
          <p:cNvSpPr/>
          <p:nvPr/>
        </p:nvSpPr>
        <p:spPr>
          <a:xfrm>
            <a:off x="4653222" y="2741200"/>
            <a:ext cx="18882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8A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78A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3985701" y="2917777"/>
            <a:ext cx="2606100" cy="457200"/>
          </a:xfrm>
          <a:prstGeom prst="roundRect">
            <a:avLst>
              <a:gd fmla="val 28000" name="adj"/>
            </a:avLst>
          </a:prstGeom>
          <a:solidFill>
            <a:srgbClr val="1E3A5F"/>
          </a:solidFill>
          <a:ln cap="flat" cmpd="sng" w="12700">
            <a:solidFill>
              <a:srgbClr val="243D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4"/>
          <p:cNvSpPr/>
          <p:nvPr/>
        </p:nvSpPr>
        <p:spPr>
          <a:xfrm>
            <a:off x="6591741" y="3045793"/>
            <a:ext cx="128100" cy="128100"/>
          </a:xfrm>
          <a:prstGeom prst="rtTriangl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4"/>
          <p:cNvSpPr/>
          <p:nvPr/>
        </p:nvSpPr>
        <p:spPr>
          <a:xfrm>
            <a:off x="4132005" y="3000073"/>
            <a:ext cx="234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would you like it?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063959" y="3215206"/>
            <a:ext cx="260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063959" y="3398086"/>
            <a:ext cx="2606100" cy="457200"/>
          </a:xfrm>
          <a:prstGeom prst="roundRect">
            <a:avLst>
              <a:gd fmla="val 28000" name="adj"/>
            </a:avLst>
          </a:prstGeom>
          <a:solidFill>
            <a:srgbClr val="DDF4EC"/>
          </a:solidFill>
          <a:ln cap="flat" cmpd="sng" w="12700">
            <a:solidFill>
              <a:srgbClr val="B5DE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/>
          <p:nvPr/>
        </p:nvSpPr>
        <p:spPr>
          <a:xfrm rot="10800000">
            <a:off x="954147" y="3526018"/>
            <a:ext cx="128100" cy="128100"/>
          </a:xfrm>
          <a:prstGeom prst="rtTriangle">
            <a:avLst/>
          </a:prstGeom>
          <a:solidFill>
            <a:srgbClr val="DDF4EC"/>
          </a:solidFill>
          <a:ln cap="flat" cmpd="sng" w="12700">
            <a:solidFill>
              <a:srgbClr val="DDF4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4"/>
          <p:cNvSpPr/>
          <p:nvPr/>
        </p:nvSpPr>
        <p:spPr>
          <a:xfrm>
            <a:off x="1210263" y="3480382"/>
            <a:ext cx="234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403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0A4035"/>
                </a:solidFill>
                <a:latin typeface="Calibri"/>
                <a:ea typeface="Calibri"/>
                <a:cs typeface="Calibri"/>
                <a:sym typeface="Calibri"/>
              </a:rPr>
              <a:t>Tomorrow at 10:00 AM.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4"/>
          <p:cNvSpPr/>
          <p:nvPr/>
        </p:nvSpPr>
        <p:spPr>
          <a:xfrm>
            <a:off x="3921714" y="3490868"/>
            <a:ext cx="260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A78A0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4A78A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4"/>
          <p:cNvSpPr/>
          <p:nvPr/>
        </p:nvSpPr>
        <p:spPr>
          <a:xfrm>
            <a:off x="3921739" y="3676736"/>
            <a:ext cx="2606100" cy="457200"/>
          </a:xfrm>
          <a:prstGeom prst="roundRect">
            <a:avLst>
              <a:gd fmla="val 28000" name="adj"/>
            </a:avLst>
          </a:prstGeom>
          <a:solidFill>
            <a:srgbClr val="1E3A5F"/>
          </a:solidFill>
          <a:ln cap="flat" cmpd="sng" w="12700">
            <a:solidFill>
              <a:srgbClr val="243D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4"/>
          <p:cNvSpPr/>
          <p:nvPr/>
        </p:nvSpPr>
        <p:spPr>
          <a:xfrm>
            <a:off x="6527779" y="3804752"/>
            <a:ext cx="128100" cy="128100"/>
          </a:xfrm>
          <a:prstGeom prst="rtTriangle">
            <a:avLst/>
          </a:prstGeom>
          <a:solidFill>
            <a:srgbClr val="1E3A5F"/>
          </a:solidFill>
          <a:ln cap="flat" cmpd="sng" w="12700">
            <a:solidFill>
              <a:srgbClr val="1E3A5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4"/>
          <p:cNvSpPr/>
          <p:nvPr/>
        </p:nvSpPr>
        <p:spPr>
          <a:xfrm>
            <a:off x="4068043" y="3759032"/>
            <a:ext cx="23499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✅  Your appointment has been booked.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4"/>
          <p:cNvSpPr/>
          <p:nvPr/>
        </p:nvSpPr>
        <p:spPr>
          <a:xfrm>
            <a:off x="6989345" y="2360506"/>
            <a:ext cx="63900" cy="1206900"/>
          </a:xfrm>
          <a:prstGeom prst="roundRect">
            <a:avLst>
              <a:gd fmla="val 85714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4"/>
          <p:cNvSpPr/>
          <p:nvPr/>
        </p:nvSpPr>
        <p:spPr>
          <a:xfrm>
            <a:off x="7353937" y="860146"/>
            <a:ext cx="16458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Database Updates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4"/>
          <p:cNvSpPr/>
          <p:nvPr/>
        </p:nvSpPr>
        <p:spPr>
          <a:xfrm>
            <a:off x="7441725" y="1066575"/>
            <a:ext cx="1170300" cy="694800"/>
          </a:xfrm>
          <a:prstGeom prst="roundRect">
            <a:avLst>
              <a:gd fmla="val 13158" name="adj"/>
            </a:avLst>
          </a:prstGeom>
          <a:solidFill>
            <a:srgbClr val="DFF5EC"/>
          </a:solidFill>
          <a:ln cap="flat" cmpd="sng" w="9525">
            <a:solidFill>
              <a:srgbClr val="0D737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0" name="Google Shape;42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26730" y="1129281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4"/>
          <p:cNvSpPr/>
          <p:nvPr/>
        </p:nvSpPr>
        <p:spPr>
          <a:xfrm>
            <a:off x="7505744" y="1398569"/>
            <a:ext cx="106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Initiate a workflow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4"/>
          <p:cNvSpPr/>
          <p:nvPr/>
        </p:nvSpPr>
        <p:spPr>
          <a:xfrm>
            <a:off x="7460082" y="1910692"/>
            <a:ext cx="1170300" cy="694800"/>
          </a:xfrm>
          <a:prstGeom prst="roundRect">
            <a:avLst>
              <a:gd fmla="val 13158" name="adj"/>
            </a:avLst>
          </a:prstGeom>
          <a:solidFill>
            <a:srgbClr val="E4EEF8"/>
          </a:solidFill>
          <a:ln cap="flat" cmpd="sng" w="9525">
            <a:solidFill>
              <a:srgbClr val="1E3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3" name="Google Shape;42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7157" y="2010194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4"/>
          <p:cNvSpPr/>
          <p:nvPr/>
        </p:nvSpPr>
        <p:spPr>
          <a:xfrm>
            <a:off x="7514821" y="2257082"/>
            <a:ext cx="106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4"/>
          <p:cNvSpPr/>
          <p:nvPr/>
        </p:nvSpPr>
        <p:spPr>
          <a:xfrm>
            <a:off x="7450797" y="2618817"/>
            <a:ext cx="1170300" cy="694800"/>
          </a:xfrm>
          <a:prstGeom prst="roundRect">
            <a:avLst>
              <a:gd fmla="val 13158" name="adj"/>
            </a:avLst>
          </a:prstGeom>
          <a:solidFill>
            <a:srgbClr val="DFF5EC"/>
          </a:solidFill>
          <a:ln cap="flat" cmpd="sng" w="9525">
            <a:solidFill>
              <a:srgbClr val="0D7377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6" name="Google Shape;42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07997" y="2673681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14"/>
          <p:cNvSpPr/>
          <p:nvPr/>
        </p:nvSpPr>
        <p:spPr>
          <a:xfrm>
            <a:off x="7505661" y="2920569"/>
            <a:ext cx="106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Update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State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7460086" y="3513455"/>
            <a:ext cx="1170300" cy="694800"/>
          </a:xfrm>
          <a:prstGeom prst="roundRect">
            <a:avLst>
              <a:gd fmla="val 13158" name="adj"/>
            </a:avLst>
          </a:prstGeom>
          <a:solidFill>
            <a:srgbClr val="E4EEF8"/>
          </a:solidFill>
          <a:ln cap="flat" cmpd="sng" w="9525">
            <a:solidFill>
              <a:srgbClr val="1E3A5F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29" name="Google Shape;42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17286" y="356831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4"/>
          <p:cNvSpPr/>
          <p:nvPr/>
        </p:nvSpPr>
        <p:spPr>
          <a:xfrm>
            <a:off x="7514950" y="3815207"/>
            <a:ext cx="106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Save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Appointment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7460363" y="4229567"/>
            <a:ext cx="1170300" cy="694800"/>
          </a:xfrm>
          <a:prstGeom prst="roundRect">
            <a:avLst>
              <a:gd fmla="val 13158" name="adj"/>
            </a:avLst>
          </a:prstGeom>
          <a:solidFill>
            <a:srgbClr val="D4EFDF"/>
          </a:solidFill>
          <a:ln cap="flat" cmpd="sng" w="9525">
            <a:solidFill>
              <a:srgbClr val="117A55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32" name="Google Shape;43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926713" y="4278331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4"/>
          <p:cNvSpPr/>
          <p:nvPr/>
        </p:nvSpPr>
        <p:spPr>
          <a:xfrm>
            <a:off x="7515177" y="4552644"/>
            <a:ext cx="106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7A5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7A55"/>
                </a:solidFill>
                <a:latin typeface="Calibri"/>
                <a:ea typeface="Calibri"/>
                <a:cs typeface="Calibri"/>
                <a:sym typeface="Calibri"/>
              </a:rPr>
              <a:t>Mark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7A55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17A55"/>
                </a:solidFill>
                <a:latin typeface="Calibri"/>
                <a:ea typeface="Calibri"/>
                <a:cs typeface="Calibri"/>
                <a:sym typeface="Calibri"/>
              </a:rPr>
              <a:t>Completed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8732520" y="47731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1045671" y="1488851"/>
            <a:ext cx="26061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377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0D7377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6" name="Google Shape;436;p14"/>
          <p:cNvCxnSpPr>
            <a:stCxn id="435" idx="3"/>
          </p:cNvCxnSpPr>
          <p:nvPr/>
        </p:nvCxnSpPr>
        <p:spPr>
          <a:xfrm flipH="1" rot="10800000">
            <a:off x="3651771" y="1278101"/>
            <a:ext cx="3726600" cy="29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7" name="Google Shape;437;p14"/>
          <p:cNvSpPr/>
          <p:nvPr/>
        </p:nvSpPr>
        <p:spPr>
          <a:xfrm rot="5400000">
            <a:off x="8013645" y="1250781"/>
            <a:ext cx="63900" cy="1206900"/>
          </a:xfrm>
          <a:prstGeom prst="roundRect">
            <a:avLst>
              <a:gd fmla="val 85714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 rot="5400000">
            <a:off x="7994920" y="2806381"/>
            <a:ext cx="63900" cy="1206900"/>
          </a:xfrm>
          <a:prstGeom prst="roundRect">
            <a:avLst>
              <a:gd fmla="val 85714" name="adj"/>
            </a:avLst>
          </a:prstGeom>
          <a:solidFill>
            <a:srgbClr val="0D7377"/>
          </a:solidFill>
          <a:ln cap="flat" cmpd="sng" w="12700">
            <a:solidFill>
              <a:srgbClr val="0D737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15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5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Product Interface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5"/>
          <p:cNvSpPr/>
          <p:nvPr/>
        </p:nvSpPr>
        <p:spPr>
          <a:xfrm>
            <a:off x="320040" y="868680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Business Monitoring Dashboard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ook_images/image4.png" id="447" name="Google Shape;44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" y="1207008"/>
            <a:ext cx="42976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5"/>
          <p:cNvSpPr/>
          <p:nvPr/>
        </p:nvSpPr>
        <p:spPr>
          <a:xfrm>
            <a:off x="4846320" y="8686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Backend Operations Configuration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book_images/image5.png" id="449" name="Google Shape;4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00600" y="1207008"/>
            <a:ext cx="406908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15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6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6"/>
          <p:cNvSpPr/>
          <p:nvPr/>
        </p:nvSpPr>
        <p:spPr>
          <a:xfrm>
            <a:off x="384048" y="118872"/>
            <a:ext cx="841248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Tools &amp; Technologies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502920" y="969264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466344" y="93268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996696" y="1133856"/>
            <a:ext cx="877824" cy="877824"/>
          </a:xfrm>
          <a:prstGeom prst="ellipse">
            <a:avLst/>
          </a:prstGeom>
          <a:solidFill>
            <a:srgbClr val="E8F7FC"/>
          </a:solidFill>
          <a:ln cap="flat" cmpd="sng" w="12700">
            <a:solidFill>
              <a:srgbClr val="E8F7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1" name="Google Shape;46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7008" y="1344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16"/>
          <p:cNvSpPr/>
          <p:nvPr/>
        </p:nvSpPr>
        <p:spPr>
          <a:xfrm>
            <a:off x="539496" y="2176272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6"/>
          <p:cNvSpPr/>
          <p:nvPr/>
        </p:nvSpPr>
        <p:spPr>
          <a:xfrm>
            <a:off x="2596896" y="969264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6"/>
          <p:cNvSpPr/>
          <p:nvPr/>
        </p:nvSpPr>
        <p:spPr>
          <a:xfrm>
            <a:off x="2560320" y="93268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3090672" y="1133856"/>
            <a:ext cx="877824" cy="877824"/>
          </a:xfrm>
          <a:prstGeom prst="ellipse">
            <a:avLst/>
          </a:prstGeom>
          <a:solidFill>
            <a:srgbClr val="EAF0F8"/>
          </a:solidFill>
          <a:ln cap="flat" cmpd="sng" w="12700">
            <a:solidFill>
              <a:srgbClr val="EAF0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66" name="Google Shape;46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00984" y="1344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6"/>
          <p:cNvSpPr/>
          <p:nvPr/>
        </p:nvSpPr>
        <p:spPr>
          <a:xfrm>
            <a:off x="2633472" y="2176272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6"/>
          <p:cNvSpPr/>
          <p:nvPr/>
        </p:nvSpPr>
        <p:spPr>
          <a:xfrm>
            <a:off x="4690872" y="969264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6"/>
          <p:cNvSpPr/>
          <p:nvPr/>
        </p:nvSpPr>
        <p:spPr>
          <a:xfrm>
            <a:off x="4654296" y="93268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6"/>
          <p:cNvSpPr/>
          <p:nvPr/>
        </p:nvSpPr>
        <p:spPr>
          <a:xfrm>
            <a:off x="5184648" y="1133856"/>
            <a:ext cx="877824" cy="877824"/>
          </a:xfrm>
          <a:prstGeom prst="ellipse">
            <a:avLst/>
          </a:prstGeom>
          <a:solidFill>
            <a:srgbClr val="E6F9EE"/>
          </a:solidFill>
          <a:ln cap="flat" cmpd="sng" w="12700">
            <a:solidFill>
              <a:srgbClr val="E6F9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1" name="Google Shape;47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4960" y="1344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16"/>
          <p:cNvSpPr/>
          <p:nvPr/>
        </p:nvSpPr>
        <p:spPr>
          <a:xfrm>
            <a:off x="4727448" y="2176272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WhatsApp Business API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6"/>
          <p:cNvSpPr/>
          <p:nvPr/>
        </p:nvSpPr>
        <p:spPr>
          <a:xfrm>
            <a:off x="6784848" y="969264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6"/>
          <p:cNvSpPr/>
          <p:nvPr/>
        </p:nvSpPr>
        <p:spPr>
          <a:xfrm>
            <a:off x="6748272" y="93268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6"/>
          <p:cNvSpPr/>
          <p:nvPr/>
        </p:nvSpPr>
        <p:spPr>
          <a:xfrm>
            <a:off x="7278624" y="1133856"/>
            <a:ext cx="877824" cy="877824"/>
          </a:xfrm>
          <a:prstGeom prst="ellipse">
            <a:avLst/>
          </a:prstGeom>
          <a:solidFill>
            <a:srgbClr val="F0EBFD"/>
          </a:solidFill>
          <a:ln cap="flat" cmpd="sng" w="12700">
            <a:solidFill>
              <a:srgbClr val="F0EB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76" name="Google Shape;47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88936" y="134416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6"/>
          <p:cNvSpPr/>
          <p:nvPr/>
        </p:nvSpPr>
        <p:spPr>
          <a:xfrm>
            <a:off x="6821424" y="2176272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REST APIs</a:t>
            </a:r>
            <a:endParaRPr b="1" sz="1200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6"/>
          <p:cNvSpPr/>
          <p:nvPr/>
        </p:nvSpPr>
        <p:spPr>
          <a:xfrm>
            <a:off x="502920" y="303580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6"/>
          <p:cNvSpPr/>
          <p:nvPr/>
        </p:nvSpPr>
        <p:spPr>
          <a:xfrm>
            <a:off x="466344" y="2999232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6"/>
          <p:cNvSpPr/>
          <p:nvPr/>
        </p:nvSpPr>
        <p:spPr>
          <a:xfrm>
            <a:off x="996696" y="3200400"/>
            <a:ext cx="877824" cy="877824"/>
          </a:xfrm>
          <a:prstGeom prst="ellipse">
            <a:avLst/>
          </a:prstGeom>
          <a:solidFill>
            <a:srgbClr val="E3F2F6"/>
          </a:solidFill>
          <a:ln cap="flat" cmpd="sng" w="12700">
            <a:solidFill>
              <a:srgbClr val="E3F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81" name="Google Shape;48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07008" y="3410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16"/>
          <p:cNvSpPr/>
          <p:nvPr/>
        </p:nvSpPr>
        <p:spPr>
          <a:xfrm>
            <a:off x="539496" y="4242816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6"/>
          <p:cNvSpPr/>
          <p:nvPr/>
        </p:nvSpPr>
        <p:spPr>
          <a:xfrm>
            <a:off x="2596896" y="303580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6"/>
          <p:cNvSpPr/>
          <p:nvPr/>
        </p:nvSpPr>
        <p:spPr>
          <a:xfrm>
            <a:off x="2560320" y="2999232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6"/>
          <p:cNvSpPr/>
          <p:nvPr/>
        </p:nvSpPr>
        <p:spPr>
          <a:xfrm>
            <a:off x="3090672" y="3200400"/>
            <a:ext cx="877824" cy="877824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6"/>
          <p:cNvSpPr/>
          <p:nvPr/>
        </p:nvSpPr>
        <p:spPr>
          <a:xfrm>
            <a:off x="2633472" y="4242816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MongoDB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6"/>
          <p:cNvSpPr/>
          <p:nvPr/>
        </p:nvSpPr>
        <p:spPr>
          <a:xfrm>
            <a:off x="4690872" y="303580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6"/>
          <p:cNvSpPr/>
          <p:nvPr/>
        </p:nvSpPr>
        <p:spPr>
          <a:xfrm>
            <a:off x="4654296" y="2999232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6"/>
          <p:cNvSpPr/>
          <p:nvPr/>
        </p:nvSpPr>
        <p:spPr>
          <a:xfrm>
            <a:off x="5184648" y="3200400"/>
            <a:ext cx="877800" cy="877800"/>
          </a:xfrm>
          <a:prstGeom prst="ellipse">
            <a:avLst/>
          </a:prstGeom>
          <a:solidFill>
            <a:srgbClr val="E8EEF6"/>
          </a:solidFill>
          <a:ln cap="flat" cmpd="sng" w="12700">
            <a:solidFill>
              <a:srgbClr val="E8EE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6"/>
          <p:cNvSpPr/>
          <p:nvPr/>
        </p:nvSpPr>
        <p:spPr>
          <a:xfrm>
            <a:off x="4727448" y="4242816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6"/>
          <p:cNvSpPr/>
          <p:nvPr/>
        </p:nvSpPr>
        <p:spPr>
          <a:xfrm>
            <a:off x="6784848" y="3035808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C0D0DE"/>
          </a:solidFill>
          <a:ln cap="flat" cmpd="sng" w="12700">
            <a:solidFill>
              <a:srgbClr val="C0D0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6"/>
          <p:cNvSpPr/>
          <p:nvPr/>
        </p:nvSpPr>
        <p:spPr>
          <a:xfrm>
            <a:off x="6748272" y="2999232"/>
            <a:ext cx="1938528" cy="190195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9525">
            <a:solidFill>
              <a:srgbClr val="DCE9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6"/>
          <p:cNvSpPr/>
          <p:nvPr/>
        </p:nvSpPr>
        <p:spPr>
          <a:xfrm>
            <a:off x="7278624" y="3200400"/>
            <a:ext cx="877824" cy="877824"/>
          </a:xfrm>
          <a:prstGeom prst="ellipse">
            <a:avLst/>
          </a:prstGeom>
          <a:solidFill>
            <a:srgbClr val="FDF0EE"/>
          </a:solidFill>
          <a:ln cap="flat" cmpd="sng" w="12700">
            <a:solidFill>
              <a:srgbClr val="FDF0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494" name="Google Shape;49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488936" y="3410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6"/>
          <p:cNvSpPr/>
          <p:nvPr/>
        </p:nvSpPr>
        <p:spPr>
          <a:xfrm>
            <a:off x="6821424" y="4242816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3A5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Github &amp; VS Code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6"/>
          <p:cNvSpPr/>
          <p:nvPr/>
        </p:nvSpPr>
        <p:spPr>
          <a:xfrm>
            <a:off x="8732520" y="477316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BBBBB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7" name="Google Shape;497;p16" title="mongodb-logo-png_seeklogo-481256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27250" y="3236975"/>
            <a:ext cx="804675" cy="80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16" title="redis-project-browser-cube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21221" y="3236975"/>
            <a:ext cx="804675" cy="80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9F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17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7"/>
          <p:cNvSpPr/>
          <p:nvPr/>
        </p:nvSpPr>
        <p:spPr>
          <a:xfrm>
            <a:off x="411480" y="9144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lang="en-US"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Success criteria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7"/>
          <p:cNvSpPr/>
          <p:nvPr/>
        </p:nvSpPr>
        <p:spPr>
          <a:xfrm>
            <a:off x="292608" y="914400"/>
            <a:ext cx="4114800" cy="1938528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07" name="Google Shape;5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768" y="1033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17"/>
          <p:cNvSpPr/>
          <p:nvPr/>
        </p:nvSpPr>
        <p:spPr>
          <a:xfrm>
            <a:off x="886968" y="103327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1. Functional Completeness</a:t>
            </a:r>
            <a:endParaRPr b="1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7"/>
          <p:cNvSpPr/>
          <p:nvPr/>
        </p:nvSpPr>
        <p:spPr>
          <a:xfrm>
            <a:off x="521208" y="1463040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01625" lvl="0" marL="457200" rtl="0" algn="l">
              <a:spcBef>
                <a:spcPts val="0"/>
              </a:spcBef>
              <a:spcAft>
                <a:spcPts val="0"/>
              </a:spcAft>
              <a:buClr>
                <a:srgbClr val="1A2A3A"/>
              </a:buClr>
              <a:buSzPts val="1150"/>
              <a:buFont typeface="Calibri"/>
              <a:buChar char="●"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All four interaction templates are implemented: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Appointment Booking, Service Inquiry, Status Check, Human Support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7"/>
          <p:cNvSpPr/>
          <p:nvPr/>
        </p:nvSpPr>
        <p:spPr>
          <a:xfrm>
            <a:off x="521208" y="2276852"/>
            <a:ext cx="374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Each template can complete an end-to-end customer flow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7"/>
          <p:cNvSpPr/>
          <p:nvPr/>
        </p:nvSpPr>
        <p:spPr>
          <a:xfrm>
            <a:off x="521208" y="2217427"/>
            <a:ext cx="3749100" cy="40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7"/>
          <p:cNvSpPr/>
          <p:nvPr/>
        </p:nvSpPr>
        <p:spPr>
          <a:xfrm>
            <a:off x="4727448" y="882363"/>
            <a:ext cx="4114800" cy="1938600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3" name="Google Shape;51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608" y="10332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4" name="Google Shape;514;p17"/>
          <p:cNvSpPr/>
          <p:nvPr/>
        </p:nvSpPr>
        <p:spPr>
          <a:xfrm>
            <a:off x="5321808" y="103327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2. Backend Operation Execution</a:t>
            </a:r>
            <a:endParaRPr b="1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7"/>
          <p:cNvSpPr/>
          <p:nvPr/>
        </p:nvSpPr>
        <p:spPr>
          <a:xfrm>
            <a:off x="4956048" y="1463040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The system correctly maps collected fields to the business backend API requests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7"/>
          <p:cNvSpPr/>
          <p:nvPr/>
        </p:nvSpPr>
        <p:spPr>
          <a:xfrm>
            <a:off x="4956048" y="190195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Backend operations are executed using the configured endpoint, method, and request mapping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7"/>
          <p:cNvSpPr/>
          <p:nvPr/>
        </p:nvSpPr>
        <p:spPr>
          <a:xfrm>
            <a:off x="292608" y="2971800"/>
            <a:ext cx="4114800" cy="1938528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18" name="Google Shape;51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9768" y="3090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17"/>
          <p:cNvSpPr/>
          <p:nvPr/>
        </p:nvSpPr>
        <p:spPr>
          <a:xfrm>
            <a:off x="886968" y="309067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3. Reliability</a:t>
            </a:r>
            <a:endParaRPr b="1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7"/>
          <p:cNvSpPr/>
          <p:nvPr/>
        </p:nvSpPr>
        <p:spPr>
          <a:xfrm>
            <a:off x="521208" y="3520440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Duplicate WhatsApp messages are not processed more than once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7"/>
          <p:cNvSpPr/>
          <p:nvPr/>
        </p:nvSpPr>
        <p:spPr>
          <a:xfrm>
            <a:off x="521208" y="395935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Failed backend calls are retried using retry logic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7"/>
          <p:cNvSpPr/>
          <p:nvPr/>
        </p:nvSpPr>
        <p:spPr>
          <a:xfrm>
            <a:off x="521208" y="4398264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Failed events can be moved to a dead-letter queue for later inspection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7"/>
          <p:cNvSpPr/>
          <p:nvPr/>
        </p:nvSpPr>
        <p:spPr>
          <a:xfrm>
            <a:off x="4727448" y="2971800"/>
            <a:ext cx="4114800" cy="1938528"/>
          </a:xfrm>
          <a:prstGeom prst="roundRect">
            <a:avLst>
              <a:gd fmla="val 471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2700000" dist="25400">
              <a:srgbClr val="000000">
                <a:alpha val="1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4" name="Google Shape;52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64608" y="309067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17"/>
          <p:cNvSpPr/>
          <p:nvPr/>
        </p:nvSpPr>
        <p:spPr>
          <a:xfrm>
            <a:off x="5321808" y="3090672"/>
            <a:ext cx="3383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solidFill>
                  <a:srgbClr val="1E3A5F"/>
                </a:solidFill>
                <a:latin typeface="Calibri"/>
                <a:ea typeface="Calibri"/>
                <a:cs typeface="Calibri"/>
                <a:sym typeface="Calibri"/>
              </a:rPr>
              <a:t>4. Performance &amp; Scalability</a:t>
            </a:r>
            <a:endParaRPr b="1">
              <a:solidFill>
                <a:srgbClr val="1E3A5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"/>
          <p:cNvSpPr/>
          <p:nvPr/>
        </p:nvSpPr>
        <p:spPr>
          <a:xfrm>
            <a:off x="4956048" y="3520440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Webhook requests are acknowledged quickly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7"/>
          <p:cNvSpPr/>
          <p:nvPr/>
        </p:nvSpPr>
        <p:spPr>
          <a:xfrm>
            <a:off x="4956048" y="3959352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Messages are processed asynchronously by workers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7"/>
          <p:cNvSpPr/>
          <p:nvPr/>
        </p:nvSpPr>
        <p:spPr>
          <a:xfrm>
            <a:off x="4956048" y="4398264"/>
            <a:ext cx="37490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50">
                <a:solidFill>
                  <a:srgbClr val="1A2A3A"/>
                </a:solidFill>
                <a:latin typeface="Calibri"/>
                <a:ea typeface="Calibri"/>
                <a:cs typeface="Calibri"/>
                <a:sym typeface="Calibri"/>
              </a:rPr>
              <a:t>• The system can handle around 100 concurrent simulated customer messages</a:t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1A2A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7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3A5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18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D737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8"/>
          <p:cNvSpPr/>
          <p:nvPr/>
        </p:nvSpPr>
        <p:spPr>
          <a:xfrm>
            <a:off x="914400" y="502920"/>
            <a:ext cx="731520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mbria"/>
              <a:buNone/>
            </a:pPr>
            <a:r>
              <a:rPr b="1" lang="en-US" sz="58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You!</a:t>
            </a:r>
            <a:endParaRPr sz="5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8"/>
          <p:cNvSpPr/>
          <p:nvPr/>
        </p:nvSpPr>
        <p:spPr>
          <a:xfrm>
            <a:off x="914400" y="164592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A085"/>
              </a:buClr>
              <a:buSzPts val="2800"/>
              <a:buFont typeface="Calibri"/>
              <a:buNone/>
            </a:pPr>
            <a:r>
              <a:rPr lang="en-US" sz="2800">
                <a:solidFill>
                  <a:srgbClr val="14A085"/>
                </a:solidFill>
                <a:latin typeface="Calibri"/>
                <a:ea typeface="Calibri"/>
                <a:cs typeface="Calibri"/>
                <a:sym typeface="Calibri"/>
              </a:rPr>
              <a:t>Any Questions?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38" name="Google Shape;53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7640" y="2468880"/>
            <a:ext cx="118872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18"/>
          <p:cNvSpPr/>
          <p:nvPr/>
        </p:nvSpPr>
        <p:spPr>
          <a:xfrm>
            <a:off x="914400" y="3986784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Helal Hammoud  &amp;  Asrar Mghes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8"/>
          <p:cNvSpPr/>
          <p:nvPr/>
        </p:nvSpPr>
        <p:spPr>
          <a:xfrm>
            <a:off x="914400" y="4389120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EA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D6EAF8"/>
                </a:solidFill>
                <a:latin typeface="Calibri"/>
                <a:ea typeface="Calibri"/>
                <a:cs typeface="Calibri"/>
                <a:sym typeface="Calibri"/>
              </a:rPr>
              <a:t>Advisor: Dr. Ze'ev Frenkel  |  Braude College of Engineering  |  5 July 2026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8"/>
          <p:cNvSpPr/>
          <p:nvPr/>
        </p:nvSpPr>
        <p:spPr>
          <a:xfrm>
            <a:off x="8732520" y="475488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A7A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A6A7A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2026-06-26T11:01:18Z</dcterms:created>
  <dc:creator>PptxGenJS</dc:creator>
</cp:coreProperties>
</file>